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1f4dde7f9b4233" /><Relationship Type="http://schemas.openxmlformats.org/officeDocument/2006/relationships/extended-properties" Target="/docProps/app.xml" Id="Rfe2250bd01d94f77" /><Relationship Type="http://schemas.openxmlformats.org/officeDocument/2006/relationships/officeDocument" Target="/ppt/presentation.xml" Id="Rcf0bfb25798841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19abd6ca77452f"/>
  </p:sldMasterIdLst>
  <p:notesMasterIdLst>
    <p:notesMasterId xmlns:r="http://schemas.openxmlformats.org/officeDocument/2006/relationships" r:id="Ra2ef90a8f57c4a03"/>
  </p:notesMasterIdLst>
  <p:sldIdLst>
    <p:sldId xmlns:r="http://schemas.openxmlformats.org/officeDocument/2006/relationships" id="256" r:id="R2dfbb52d47cf4946"/>
    <p:sldId xmlns:r="http://schemas.openxmlformats.org/officeDocument/2006/relationships" id="257" r:id="R02941bae8068436e"/>
    <p:sldId xmlns:r="http://schemas.openxmlformats.org/officeDocument/2006/relationships" id="258" r:id="Rcb12d701618f4842"/>
    <p:sldId xmlns:r="http://schemas.openxmlformats.org/officeDocument/2006/relationships" id="259" r:id="Red5cd79e8b0943c4"/>
    <p:sldId xmlns:r="http://schemas.openxmlformats.org/officeDocument/2006/relationships" id="260" r:id="R1c1f0be2e40f4664"/>
    <p:sldId xmlns:r="http://schemas.openxmlformats.org/officeDocument/2006/relationships" id="261" r:id="R9196700d9bf849e5"/>
    <p:sldId xmlns:r="http://schemas.openxmlformats.org/officeDocument/2006/relationships" id="262" r:id="R0f3e6baf6e2447c2"/>
    <p:sldId xmlns:r="http://schemas.openxmlformats.org/officeDocument/2006/relationships" id="263" r:id="R60b361684af44ae4"/>
    <p:sldId xmlns:r="http://schemas.openxmlformats.org/officeDocument/2006/relationships" id="264" r:id="R91f1ab7c37ec4213"/>
    <p:sldId xmlns:r="http://schemas.openxmlformats.org/officeDocument/2006/relationships" id="265" r:id="Rff6b692aad354840"/>
    <p:sldId xmlns:r="http://schemas.openxmlformats.org/officeDocument/2006/relationships" id="266" r:id="R3d158888eaca4ca0"/>
    <p:sldId xmlns:r="http://schemas.openxmlformats.org/officeDocument/2006/relationships" id="267" r:id="Rc3ff82a638f449a4"/>
    <p:sldId xmlns:r="http://schemas.openxmlformats.org/officeDocument/2006/relationships" id="268" r:id="R9bfdd1307c5f4cd0"/>
    <p:sldId xmlns:r="http://schemas.openxmlformats.org/officeDocument/2006/relationships" id="269" r:id="Rd3ab31b30ccd4e14"/>
    <p:sldId xmlns:r="http://schemas.openxmlformats.org/officeDocument/2006/relationships" id="270" r:id="R98e6947230874a9d"/>
    <p:sldId xmlns:r="http://schemas.openxmlformats.org/officeDocument/2006/relationships" id="271" r:id="Rbf015e60da2240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b5a57591c64e4a" /><Relationship Type="http://schemas.openxmlformats.org/officeDocument/2006/relationships/slideMaster" Target="/ppt/slideMasters/slideMaster1.xml" Id="R5b19abd6ca77452f" /><Relationship Type="http://schemas.openxmlformats.org/officeDocument/2006/relationships/notesMaster" Target="/ppt/notesMasters/notesMaster1.xml" Id="Ra2ef90a8f57c4a03" /><Relationship Type="http://schemas.openxmlformats.org/officeDocument/2006/relationships/presProps" Target="/ppt/presProps.xml" Id="R34b72bd37a614155" /><Relationship Type="http://schemas.openxmlformats.org/officeDocument/2006/relationships/viewProps" Target="/ppt/viewProps.xml" Id="R0c83394482d04815" /><Relationship Type="http://schemas.openxmlformats.org/officeDocument/2006/relationships/tableStyles" Target="/ppt/tableStyles.xml" Id="R505f965ae7cc4273" /><Relationship Type="http://schemas.openxmlformats.org/officeDocument/2006/relationships/slide" Target="/ppt/slides/slide1.xml" Id="R2dfbb52d47cf4946" /><Relationship Type="http://schemas.openxmlformats.org/officeDocument/2006/relationships/slide" Target="/ppt/slides/slide2.xml" Id="R02941bae8068436e" /><Relationship Type="http://schemas.openxmlformats.org/officeDocument/2006/relationships/slide" Target="/ppt/slides/slide3.xml" Id="Rcb12d701618f4842" /><Relationship Type="http://schemas.openxmlformats.org/officeDocument/2006/relationships/slide" Target="/ppt/slides/slide4.xml" Id="Red5cd79e8b0943c4" /><Relationship Type="http://schemas.openxmlformats.org/officeDocument/2006/relationships/slide" Target="/ppt/slides/slide5.xml" Id="R1c1f0be2e40f4664" /><Relationship Type="http://schemas.openxmlformats.org/officeDocument/2006/relationships/slide" Target="/ppt/slides/slide6.xml" Id="R9196700d9bf849e5" /><Relationship Type="http://schemas.openxmlformats.org/officeDocument/2006/relationships/slide" Target="/ppt/slides/slide7.xml" Id="R0f3e6baf6e2447c2" /><Relationship Type="http://schemas.openxmlformats.org/officeDocument/2006/relationships/slide" Target="/ppt/slides/slide8.xml" Id="R60b361684af44ae4" /><Relationship Type="http://schemas.openxmlformats.org/officeDocument/2006/relationships/slide" Target="/ppt/slides/slide9.xml" Id="R91f1ab7c37ec4213" /><Relationship Type="http://schemas.openxmlformats.org/officeDocument/2006/relationships/slide" Target="/ppt/slides/slide10.xml" Id="Rff6b692aad354840" /><Relationship Type="http://schemas.openxmlformats.org/officeDocument/2006/relationships/slide" Target="/ppt/slides/slide11.xml" Id="R3d158888eaca4ca0" /><Relationship Type="http://schemas.openxmlformats.org/officeDocument/2006/relationships/slide" Target="/ppt/slides/slide12.xml" Id="Rc3ff82a638f449a4" /><Relationship Type="http://schemas.openxmlformats.org/officeDocument/2006/relationships/slide" Target="/ppt/slides/slide13.xml" Id="R9bfdd1307c5f4cd0" /><Relationship Type="http://schemas.openxmlformats.org/officeDocument/2006/relationships/slide" Target="/ppt/slides/slide14.xml" Id="Rd3ab31b30ccd4e14" /><Relationship Type="http://schemas.openxmlformats.org/officeDocument/2006/relationships/slide" Target="/ppt/slides/slide15.xml" Id="R98e6947230874a9d" /><Relationship Type="http://schemas.openxmlformats.org/officeDocument/2006/relationships/slide" Target="/ppt/slides/slide16.xml" Id="Rbf015e60da2240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55fe9a3bfc4a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641ee259134014" /><Relationship Type="http://schemas.openxmlformats.org/officeDocument/2006/relationships/notesMaster" Target="/ppt/notesMasters/notesMaster1.xml" Id="Rca2781ff595c4f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a4a4cec37140c3" /><Relationship Type="http://schemas.openxmlformats.org/officeDocument/2006/relationships/notesMaster" Target="/ppt/notesMasters/notesMaster1.xml" Id="Rd4dedb1c64cb4d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95fc71fa44f54" /><Relationship Type="http://schemas.openxmlformats.org/officeDocument/2006/relationships/notesMaster" Target="/ppt/notesMasters/notesMaster1.xml" Id="Rfee1e4b6970844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a39f4bbee246f5" /><Relationship Type="http://schemas.openxmlformats.org/officeDocument/2006/relationships/notesMaster" Target="/ppt/notesMasters/notesMaster1.xml" Id="Rbdb255ff9da441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3ceef6af4046e5" /><Relationship Type="http://schemas.openxmlformats.org/officeDocument/2006/relationships/notesMaster" Target="/ppt/notesMasters/notesMaster1.xml" Id="R491393a37bf241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0fec646e3b488d" /><Relationship Type="http://schemas.openxmlformats.org/officeDocument/2006/relationships/notesMaster" Target="/ppt/notesMasters/notesMaster1.xml" Id="R170c3d300a9b46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a0cd2e19e64cc9" /><Relationship Type="http://schemas.openxmlformats.org/officeDocument/2006/relationships/notesMaster" Target="/ppt/notesMasters/notesMaster1.xml" Id="Rb1d8c7694a4b4d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9925ace4cd4e7e" /><Relationship Type="http://schemas.openxmlformats.org/officeDocument/2006/relationships/notesMaster" Target="/ppt/notesMasters/notesMaster1.xml" Id="R0f85818deffe48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31fbba2fae4fa0" /><Relationship Type="http://schemas.openxmlformats.org/officeDocument/2006/relationships/notesMaster" Target="/ppt/notesMasters/notesMaster1.xml" Id="R3d30735d705a45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de7dfe791a4b22" /><Relationship Type="http://schemas.openxmlformats.org/officeDocument/2006/relationships/notesMaster" Target="/ppt/notesMasters/notesMaster1.xml" Id="R74f992f8e26a47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82db1b9900410c" /><Relationship Type="http://schemas.openxmlformats.org/officeDocument/2006/relationships/notesMaster" Target="/ppt/notesMasters/notesMaster1.xml" Id="R03904d05db2c4f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fc355927b24ac0" /><Relationship Type="http://schemas.openxmlformats.org/officeDocument/2006/relationships/notesMaster" Target="/ppt/notesMasters/notesMaster1.xml" Id="R07a6db7bc6e248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e4443d244c431d" /><Relationship Type="http://schemas.openxmlformats.org/officeDocument/2006/relationships/notesMaster" Target="/ppt/notesMasters/notesMaster1.xml" Id="Rcb3122a3b48545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69bd4b7c2447f3" /><Relationship Type="http://schemas.openxmlformats.org/officeDocument/2006/relationships/notesMaster" Target="/ppt/notesMasters/notesMaster1.xml" Id="R2347c9334cb747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299a98bc534f44" /><Relationship Type="http://schemas.openxmlformats.org/officeDocument/2006/relationships/notesMaster" Target="/ppt/notesMasters/notesMaster1.xml" Id="R60f2a8bf904b42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585e3d75774f44" /><Relationship Type="http://schemas.openxmlformats.org/officeDocument/2006/relationships/notesMaster" Target="/ppt/notesMasters/notesMaster1.xml" Id="R869b2edaa4e040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e738425a242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c3a799cc2c4780" /><Relationship Type="http://schemas.openxmlformats.org/officeDocument/2006/relationships/slideLayout" Target="/ppt/slideLayouts/slideLayout1.xml" Id="R18eed14174cb4c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eed14174cb4c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5344c7cd94eab" /><Relationship Type="http://schemas.openxmlformats.org/officeDocument/2006/relationships/image" Target="/ppt/media/image.jpeg" Id="R214bc7990ef94b6a" /><Relationship Type="http://schemas.openxmlformats.org/officeDocument/2006/relationships/image" Target="/ppt/media/image2.jpeg" Id="Rac4e1352225346d0" /><Relationship Type="http://schemas.openxmlformats.org/officeDocument/2006/relationships/image" Target="/ppt/media/image3.jpeg" Id="R4a191f932274424a" /><Relationship Type="http://schemas.openxmlformats.org/officeDocument/2006/relationships/notesSlide" Target="/ppt/notesSlides/notesSlide1.xml" Id="Re73f0b8281fd40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6aa42b9af4713" /><Relationship Type="http://schemas.openxmlformats.org/officeDocument/2006/relationships/notesSlide" Target="/ppt/notesSlides/notesSlide2.xml" Id="R4e4c338955c841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67d46154948da" /><Relationship Type="http://schemas.openxmlformats.org/officeDocument/2006/relationships/image" Target="/ppt/media/image4.jpeg" Id="R840065a3e8b046fc" /><Relationship Type="http://schemas.openxmlformats.org/officeDocument/2006/relationships/image" Target="/ppt/media/image5.jpeg" Id="Rad72f38985e84071" /><Relationship Type="http://schemas.openxmlformats.org/officeDocument/2006/relationships/image" Target="/ppt/media/image6.jpeg" Id="R83105f8a37404506" /><Relationship Type="http://schemas.openxmlformats.org/officeDocument/2006/relationships/image" Target="/ppt/media/image7.jpeg" Id="R3bafce0be0bb4920" /><Relationship Type="http://schemas.openxmlformats.org/officeDocument/2006/relationships/notesSlide" Target="/ppt/notesSlides/notesSlide3.xml" Id="Ra4b4fdf2cb5140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375cf93e24bf1" /><Relationship Type="http://schemas.openxmlformats.org/officeDocument/2006/relationships/notesSlide" Target="/ppt/notesSlides/notesSlide4.xml" Id="R1b2399b8d5fb48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2820fef8d43ae" /><Relationship Type="http://schemas.openxmlformats.org/officeDocument/2006/relationships/image" Target="/ppt/media/image8.jpeg" Id="R981cca1399e34267" /><Relationship Type="http://schemas.openxmlformats.org/officeDocument/2006/relationships/image" Target="/ppt/media/image9.jpeg" Id="Rac84e6058ebd43f9" /><Relationship Type="http://schemas.openxmlformats.org/officeDocument/2006/relationships/image" Target="/ppt/media/image10.jpeg" Id="R50a1fbf1fa98436d" /><Relationship Type="http://schemas.openxmlformats.org/officeDocument/2006/relationships/notesSlide" Target="/ppt/notesSlides/notesSlide5.xml" Id="Rcab779133a1a4c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5f8ba0fa64173" /><Relationship Type="http://schemas.openxmlformats.org/officeDocument/2006/relationships/image" Target="/ppt/media/image11.jpeg" Id="Rb237f39e6f714c12" /><Relationship Type="http://schemas.openxmlformats.org/officeDocument/2006/relationships/image" Target="/ppt/media/image12.jpeg" Id="R7a7998092dd245b4" /><Relationship Type="http://schemas.openxmlformats.org/officeDocument/2006/relationships/notesSlide" Target="/ppt/notesSlides/notesSlide6.xml" Id="Raa23a74d3cd74c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b385b18414597" /><Relationship Type="http://schemas.openxmlformats.org/officeDocument/2006/relationships/image" Target="/ppt/media/image13.jpeg" Id="R9a35dd33e1ae4209" /><Relationship Type="http://schemas.openxmlformats.org/officeDocument/2006/relationships/image" Target="/ppt/media/image14.jpeg" Id="R210a6b74633f4bd9" /><Relationship Type="http://schemas.openxmlformats.org/officeDocument/2006/relationships/notesSlide" Target="/ppt/notesSlides/notesSlide7.xml" Id="R8973c3e5c68f40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ed52c9fa2437d" /><Relationship Type="http://schemas.openxmlformats.org/officeDocument/2006/relationships/image" Target="/ppt/media/image15.jpeg" Id="R6c003f036cbb446b" /><Relationship Type="http://schemas.openxmlformats.org/officeDocument/2006/relationships/image" Target="/ppt/media/image16.jpeg" Id="R9c0b0af8d0124d40" /><Relationship Type="http://schemas.openxmlformats.org/officeDocument/2006/relationships/image" Target="/ppt/media/image17.jpeg" Id="Re944ac7903f547f5" /><Relationship Type="http://schemas.openxmlformats.org/officeDocument/2006/relationships/notesSlide" Target="/ppt/notesSlides/notesSlide8.xml" Id="R03b685fd8f114e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3dd4fbda6471b" /><Relationship Type="http://schemas.openxmlformats.org/officeDocument/2006/relationships/notesSlide" Target="/ppt/notesSlides/notesSlide9.xml" Id="R620b394beaba48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d216ab861464c" /><Relationship Type="http://schemas.openxmlformats.org/officeDocument/2006/relationships/notesSlide" Target="/ppt/notesSlides/notesSlide10.xml" Id="Rf4d622ac8cae40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e54f42f374b73" /><Relationship Type="http://schemas.openxmlformats.org/officeDocument/2006/relationships/notesSlide" Target="/ppt/notesSlides/notesSlide11.xml" Id="R34107a8adeca44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d671c18554f69" /><Relationship Type="http://schemas.openxmlformats.org/officeDocument/2006/relationships/notesSlide" Target="/ppt/notesSlides/notesSlide12.xml" Id="R946e14bf340a48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e9b8bd1764d81" /><Relationship Type="http://schemas.openxmlformats.org/officeDocument/2006/relationships/image" Target="/ppt/media/image18.jpeg" Id="Rfc7483615f314831" /><Relationship Type="http://schemas.openxmlformats.org/officeDocument/2006/relationships/notesSlide" Target="/ppt/notesSlides/notesSlide13.xml" Id="R0ca6afb240984b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9e65efffe49c1" /><Relationship Type="http://schemas.openxmlformats.org/officeDocument/2006/relationships/image" Target="/ppt/media/image19.jpeg" Id="R95f53d15163f4834" /><Relationship Type="http://schemas.openxmlformats.org/officeDocument/2006/relationships/image" Target="/ppt/media/image20.jpeg" Id="Rd39004bc1ac64308" /><Relationship Type="http://schemas.openxmlformats.org/officeDocument/2006/relationships/image" Target="/ppt/media/image21.jpeg" Id="R03d081568cd94bee" /><Relationship Type="http://schemas.openxmlformats.org/officeDocument/2006/relationships/notesSlide" Target="/ppt/notesSlides/notesSlide14.xml" Id="R52a3943c890b4e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33b2d58c540e2" /><Relationship Type="http://schemas.openxmlformats.org/officeDocument/2006/relationships/image" Target="/ppt/media/image22.jpeg" Id="Rc1ca4a4fa6004221" /><Relationship Type="http://schemas.openxmlformats.org/officeDocument/2006/relationships/image" Target="/ppt/media/image23.jpeg" Id="R0a54783d09554fdc" /><Relationship Type="http://schemas.openxmlformats.org/officeDocument/2006/relationships/image" Target="/ppt/media/image24.jpeg" Id="Rb6dd52211a8f4ae5" /><Relationship Type="http://schemas.openxmlformats.org/officeDocument/2006/relationships/notesSlide" Target="/ppt/notesSlides/notesSlide15.xml" Id="Ref2d2129f67f41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2c57d244e4927" /><Relationship Type="http://schemas.openxmlformats.org/officeDocument/2006/relationships/image" Target="/ppt/media/image25.jpeg" Id="R6ec1daec2b774ae3" /><Relationship Type="http://schemas.openxmlformats.org/officeDocument/2006/relationships/notesSlide" Target="/ppt/notesSlides/notesSlide16.xml" Id="R787221bcbf8344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075CFB-5612-4D70-B808-5379D4A9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ADD65-EBF1-425A-92F4-07408DF0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1A344-1F5E-4108-ADBD-5AE6D316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57C4-AFC4-4809-BB45-8014890F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FA626-F742-4DB5-807E-9D7AF017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AFC"/>
              </a:gs>
              <a:gs pos="52000">
                <a:srgbClr val="F2FAFC"/>
              </a:gs>
              <a:gs pos="100000">
                <a:srgbClr val="E9F5FA"/>
              </a:gs>
            </a:gsLst>
            <a:lin ang="63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bc7990ef94b6a"/>
          <a:srcRect xmlns:a="http://schemas.openxmlformats.org/drawingml/2006/main" l="0" t="15336" r="0" b="153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950" y="609600"/>
            <a:ext cx="4000500" cy="2286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e1352225346d0"/>
          <a:srcRect xmlns:a="http://schemas.openxmlformats.org/drawingml/2006/main" l="0" t="8490" r="0" b="8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3086100"/>
            <a:ext cx="3333750" cy="16192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91f932274424a"/>
          <a:srcRect xmlns:a="http://schemas.openxmlformats.org/drawingml/2006/main" l="0" t="8971" r="0" b="8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4876800"/>
            <a:ext cx="2095500" cy="1066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086EC-E103-40FD-8292-BB344BF1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"/>
            <a:ext cx="4629150" cy="582930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10478">
            <a:solidFill>
              <a:srgbClr val="C8D7E3">
                <a:alpha val="6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5A029-ECFB-4194-8F7E-8719B3CE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1DE4C-A3AB-4E36-BC66-FE1B8EE1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Shenshi 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22A5D-C0EF-4137-A616-4AB2DA3A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李申适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2C637-8233-4BBB-BD29-9B6DE0CB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90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D2B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D2B3A"/>
                </a:solidFill>
                <a:latin typeface="Aptos Display"/>
                <a:ea typeface="Aptos Display"/>
                <a:cs typeface="Aptos Display"/>
              </a:rPr>
              <a:t>Computational Imaging, Optical Metrology,</a:t>
            </a:r>
          </a:p>
          <a:p xmlns:a="http://schemas.openxmlformats.org/drawingml/2006/main">
            <a:pPr algn="l">
              <a:defRPr sz="2625" b="1">
                <a:solidFill>
                  <a:srgbClr val="1D2B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D2B3A"/>
                </a:solidFill>
                <a:latin typeface="Aptos Display"/>
                <a:ea typeface="Aptos Display"/>
                <a:cs typeface="Aptos Display"/>
              </a:rPr>
              <a:t>and 3D Reconstruction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CA9F7-6304-475D-82A4-5006E879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542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B.Eng. Student in Optoelectronic Information Science and Engineering</a:t>
            </a:r>
          </a:p>
          <a:p xmlns:a="http://schemas.openxmlformats.org/drawingml/2006/main">
            <a:pPr algn="l">
              <a:defRPr sz="127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College of Optical Science and Engineering, Zhejiang University</a:t>
            </a:r>
          </a:p>
          <a:p xmlns:a="http://schemas.openxmlformats.org/drawingml/2006/main">
            <a:pPr algn="l">
              <a:defRPr sz="127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Expected graduation: June 2027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5C32E-4E41-4E72-9020-704D57A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533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11430">
            <a:solidFill>
              <a:srgbClr val="D8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6F2B0-AE3E-4C1D-A6A7-F9994562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Meeting with Prof. Evan Peng / WeLight Lab team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D8482-8E7E-4CF9-905E-48E7A535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485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June 17, 2026 | 8-10 min academic self-introduction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20AB1-09A8-4E46-8B2C-9FCB4F88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5F99"/>
                </a:solidFill>
                <a:latin typeface="Aptos"/>
                <a:ea typeface="Aptos"/>
                <a:cs typeface="Aptos"/>
              </a:rPr>
              <a:t>3230105050@zju.edu.cn  |  lssnake0105.github.io/profile/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B3652-F502-4312-B4E2-820C6296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B02DF-F33D-46D6-88BB-3F442686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1/16</a:t>
            </a:r>
          </a:p>
        </p:txBody>
      </p:sp>
    </p:spTree>
    <p:extLst>
      <p:ext uri="{BB962C8B-B14F-4D97-AF65-F5344CB8AC3E}">
        <p14:creationId xmlns:p14="http://schemas.microsoft.com/office/powerpoint/2010/main" val="203566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233512-3333-4CAD-9DD1-E460BD27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F71CB-3B47-4D15-8CFE-C5F74AF3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3F1A0-E834-4335-B025-3EFFF9ED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92718-0AC6-4107-9A5A-05ED490D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F3017-657C-474F-8132-06576D17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5D82E-0A0E-4560-A219-1958FEC2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My training connects optical systems, imaging algorithms, and reproducible research software.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22705-EEAE-4749-95C0-51A569AA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One-minute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12A8E-B715-4E35-9863-1D059177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33F97-D469-4DC3-8F0B-8403A625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2/16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1C3F8-11E0-4AF8-9B95-793EC897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047875" cy="23812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28171-0CA8-488C-9DF2-2AA034D6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B"/>
          </a:solidFill>
          <a:ln xmlns:a="http://schemas.openxmlformats.org/drawingml/2006/main" w="11430">
            <a:solidFill>
              <a:srgbClr val="B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A76F1-2809-42EE-8D64-34ABEFC0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5F9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5F99"/>
                </a:solidFill>
                <a:latin typeface="Aptos Display"/>
                <a:ea typeface="Aptos Display"/>
                <a:cs typeface="Aptos Display"/>
              </a:rPr>
              <a:t>SL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A3EBA-69D7-43E8-A73D-9541845F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Shenshi 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0B1D1-4B10-493E-BC8C-8A1E06FA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ZJU Optics</a:t>
            </a:r>
          </a:p>
          <a:p xmlns:a="http://schemas.openxmlformats.org/drawingml/2006/main">
            <a:pPr algn="ctr">
              <a:defRPr sz="93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B.Eng. 2023-2027</a:t>
            </a:r>
          </a:p>
          <a:p xmlns:a="http://schemas.openxmlformats.org/drawingml/2006/main">
            <a:pPr algn="ctr">
              <a:defRPr sz="93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Optoelectronic Information</a:t>
            </a:r>
          </a:p>
          <a:p xmlns:a="http://schemas.openxmlformats.org/drawingml/2006/main">
            <a:pPr algn="ctr">
              <a:defRPr sz="93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Science and Engineering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D66AB-6307-49DF-87B5-8FE643C1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76400"/>
            <a:ext cx="169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FAD33-A05D-4AFF-ACF0-7C720C72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76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965F8-1818-4374-AB7F-72FED995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3.94/4.00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CD4B3-2D6A-4A63-8A30-8DA0D92A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336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GPA, ranked 18/103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D3215-6706-423A-BA2E-5EA47CC5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169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21321-F2B7-4860-B919-3D0761FB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097B7-2DC5-47C0-9DB5-F089A655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2024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F7362-C264-4766-BB88-0FABC044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National Scholarship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261708-0905-44B2-945B-18E0B31F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76400"/>
            <a:ext cx="169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34CF4-54CA-4584-B279-785BEAB6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76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41B7A-4583-45E1-A92E-80EA4CA3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0975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108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42245-9282-4E1E-A923-A8F0B4B7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336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TOEFL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5CDB1-6162-4DD0-B0B9-84F54BF6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76400"/>
            <a:ext cx="169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90313D-262A-4169-B2D5-E52FA538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76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F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6CBC4-7E05-473B-A383-96079346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DF365-88FA-4A3E-A2EC-C080C40C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336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Optics-focused projects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18AE51-45FA-40D5-8C30-840D848C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23050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6487D5-7459-4E72-B39B-AF14BDF6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0BDDA4-7069-46A9-A82A-91708274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992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Optical Systems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B5ECB-272B-4A9F-9CBA-93291496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Zemax lens design</a:t>
            </a:r>
          </a:p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Confocal microscopy concept</a:t>
            </a:r>
          </a:p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Fluorescence microscope prototype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B74F44-CF90-4360-A217-625D6994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23050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5E0BA8-D6D3-41B4-A90A-CF7C6B53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9B492C-1ED8-4729-A56C-B5BDBB0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992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Vision Algorithms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8AFC60-04A6-4B8A-B9A4-DA6687B2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95700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Depth-from-focus reconstruction</a:t>
            </a:r>
          </a:p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OpenCV measurement software</a:t>
            </a:r>
          </a:p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UNet-style segmentation workflow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88F2F0-045A-4173-BE3F-F2E13DFA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3050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04CF7F-74B8-40EC-A0FD-D15D80CD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3B4DF9-8B8E-49B0-91F6-A7CD7415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992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Research Software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1F248B-C363-495F-8649-652A20E1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Python pipelines</a:t>
            </a:r>
          </a:p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Reproducible figures and reports</a:t>
            </a:r>
          </a:p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GUI tools for parameter tuning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686526-5479-49E4-B484-9990DD4F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9525">
            <a:solidFill>
              <a:srgbClr val="BBDD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A96779-17C1-4B41-A4C7-0F8C52A0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72075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Computational imaging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7CE9A1-8FF4-45D1-A2E0-DFE7FC46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BDE4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820DE4-F3D7-48C6-AD8C-C1A50BB1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72075"/>
            <a:ext cx="11525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826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5826F"/>
                </a:solidFill>
                <a:latin typeface="Aptos"/>
                <a:ea typeface="Aptos"/>
                <a:cs typeface="Aptos"/>
              </a:rPr>
              <a:t>Optical metrology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9CA988-183E-45EB-BAD1-21316660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05400"/>
            <a:ext cx="13620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5D2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D4DF16-5262-4E83-B7C0-BE55A281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72075"/>
            <a:ext cx="11334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75BA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75BA0"/>
                </a:solidFill>
                <a:latin typeface="Aptos"/>
                <a:ea typeface="Aptos"/>
                <a:cs typeface="Aptos"/>
              </a:rPr>
              <a:t>3D reconstruction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463D87-83B8-48EA-8971-65AB4735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05400"/>
            <a:ext cx="1581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F6D4A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F201C2-FC04-4E28-BD5E-F4C95568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72075"/>
            <a:ext cx="1352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A8601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86016"/>
                </a:solidFill>
                <a:latin typeface="Aptos"/>
                <a:ea typeface="Aptos"/>
                <a:cs typeface="Aptos"/>
              </a:rPr>
              <a:t>Optics-AI co-design</a:t>
            </a:r>
          </a:p>
        </p:txBody>
      </p:sp>
    </p:spTree>
    <p:extLst>
      <p:ext uri="{BB962C8B-B14F-4D97-AF65-F5344CB8AC3E}">
        <p14:creationId xmlns:p14="http://schemas.microsoft.com/office/powerpoint/2010/main" val="283362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A60FB6-9BDA-45D7-A364-4FFBD93C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EDD4B-7766-4AAC-A22A-11C00A22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A9F00-BD70-4457-A528-8DF2E168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8B4B3-4512-4026-B2F4-01F94569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5DC4C-0CCC-4DCA-8DEE-05849E35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4C9CE-9BD2-4A8A-90DE-D1C633AE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My projects have moved from optical measurement to computational reconstruction and defect analysis.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9002C-0C22-4B87-8765-3324047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Research trajectory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E6D22-AEFF-4706-A469-BEA8848A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55E64-9D52-47CE-A19B-436ED1B8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3/16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6887E-BB3F-4AE2-8B58-A0C65FA9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4223"/>
            <a:ext cx="10287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456C9-31AA-4DCF-9AD9-1A79AADE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6F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B4B45-D6E2-48B2-9223-FCE48967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76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6FB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A6FB3"/>
                </a:solidFill>
                <a:latin typeface="Aptos Mono"/>
                <a:ea typeface="Aptos Mono"/>
                <a:cs typeface="Aptos Mono"/>
              </a:rPr>
              <a:t>2024.05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080EE-C14E-4BF0-8690-63CBC5B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619250" cy="16764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2E416-E7F3-4669-99E4-2141AD30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Research Initiation</a:t>
            </a:r>
          </a:p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D9C44-BDCE-4DF8-A626-E7E69C11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Proposal writing,</a:t>
            </a:r>
          </a:p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literature review,</a:t>
            </a:r>
          </a:p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poster 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3EBDE-C8A1-4768-85B5-BE9F7119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11430">
            <a:solidFill>
              <a:srgbClr val="D7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32F5B-DC34-4B89-A765-ADE44813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A6FB3"/>
                </a:solidFill>
                <a:latin typeface="Aptos Display"/>
                <a:ea typeface="Aptos Display"/>
                <a:cs typeface="Aptos Display"/>
              </a:rPr>
              <a:t>research</a:t>
            </a:r>
          </a:p>
          <a:p xmlns:a="http://schemas.openxmlformats.org/drawingml/2006/main">
            <a:pPr algn="ctr">
              <a:defRPr sz="1425" b="1">
                <a:solidFill>
                  <a:srgbClr val="6A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A6FB3"/>
                </a:solidFill>
                <a:latin typeface="Aptos Display"/>
                <a:ea typeface="Aptos Display"/>
                <a:cs typeface="Aptos Display"/>
              </a:rPr>
              <a:t>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97F37-FC53-4AF9-AC19-FA409A88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00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3ECA7-F5C1-46E3-B7DB-D885597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76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A999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8A999"/>
                </a:solidFill>
                <a:latin typeface="Aptos Mono"/>
                <a:ea typeface="Aptos Mono"/>
                <a:cs typeface="Aptos Mono"/>
              </a:rPr>
              <a:t>2024.11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9D4B0-5E91-4330-BB0D-25E7C84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657600"/>
            <a:ext cx="1619250" cy="16764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9E6F0-D608-4B91-A4EF-9143FE86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82905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LEGO-based</a:t>
            </a:r>
          </a:p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fluorescence microscope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59C3F-AF20-419F-9FC9-1F8E2A5F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434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Mechanical modules,</a:t>
            </a:r>
          </a:p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Zemax optical path,</a:t>
            </a:r>
          </a:p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working prototype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065a3e8b046fc"/>
          <a:srcRect xmlns:a="http://schemas.openxmlformats.org/drawingml/2006/main" l="0" t="6093" r="0" b="6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075" y="1809750"/>
            <a:ext cx="1619250" cy="10668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BB6E2-5944-480A-AB50-3573BC51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809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CD137-A32D-4E44-B90C-8A7003C2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00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BCAA6-E08F-4E3C-8379-A29C457D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76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8C2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8C28"/>
                </a:solidFill>
                <a:latin typeface="Aptos Mono"/>
                <a:ea typeface="Aptos Mono"/>
                <a:cs typeface="Aptos Mono"/>
              </a:rPr>
              <a:t>2025.05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7EA07E-C5F7-4ED3-93F6-FD7D924C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57600"/>
            <a:ext cx="1619250" cy="16764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B187B-6332-4FBE-995C-8A30B2B7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2905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Micro-hole</a:t>
            </a:r>
          </a:p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metrology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55818F-6195-4B7A-A8B9-075DC347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434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Confocal scanning idea,</a:t>
            </a:r>
          </a:p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OpenCV aperture fitting,</a:t>
            </a:r>
          </a:p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aspect-ratio calculator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2f38985e84071"/>
          <a:srcRect xmlns:a="http://schemas.openxmlformats.org/drawingml/2006/main" l="0" t="6061" r="0" b="6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0" y="1809750"/>
            <a:ext cx="1619250" cy="10668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A32AA5-E116-4DF6-87DC-97E6DA82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D138DC-E0BA-4926-86E7-DDA4680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200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04BD94-88C7-4DB3-8E5C-49B4D56E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76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A7C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2A7C8"/>
                </a:solidFill>
                <a:latin typeface="Aptos Mono"/>
                <a:ea typeface="Aptos Mono"/>
                <a:cs typeface="Aptos Mono"/>
              </a:rPr>
              <a:t>2025.04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E6780F-1536-460E-B6DD-07DE7FBF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657600"/>
            <a:ext cx="1619250" cy="16764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36A147-76DE-4E02-B934-4E336C59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82905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DFF defect</a:t>
            </a:r>
          </a:p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reconstruction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2593CD-044C-4A01-B199-23937911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434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Focus-stack imaging,</a:t>
            </a:r>
          </a:p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DFF + learning,</a:t>
            </a:r>
          </a:p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heterogeneous surfaces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05f8a37404506"/>
          <a:srcRect xmlns:a="http://schemas.openxmlformats.org/drawingml/2006/main" l="14377" t="0" r="143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2325" y="1809750"/>
            <a:ext cx="1619250" cy="10668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CA6560-8BEA-49C8-A847-FE4601F4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09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985F63-3E0A-4B98-BD62-E675814C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00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166D24-7FBA-4F7E-A7D4-342B8B6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876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5F99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F5F99"/>
                </a:solidFill>
                <a:latin typeface="Aptos Mono"/>
                <a:ea typeface="Aptos Mono"/>
                <a:cs typeface="Aptos Mono"/>
              </a:rPr>
              <a:t>2025.06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1977EE-2D82-4F1C-AB79-0E22E998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57600"/>
            <a:ext cx="1619250" cy="16764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75D354-53B9-4703-A355-3E7BAC53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2905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Mirrorless camera</a:t>
            </a:r>
          </a:p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lens design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B52086-AD45-4E45-9A96-9EA1FC93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Zemax optimization,</a:t>
            </a:r>
          </a:p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MTF/tolerance,</a:t>
            </a:r>
          </a:p>
          <a:p xmlns:a="http://schemas.openxmlformats.org/drawingml/2006/main">
            <a:pPr algn="l">
              <a:defRPr sz="91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Monte Carlo yield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fce0be0bb4920"/>
          <a:srcRect xmlns:a="http://schemas.openxmlformats.org/drawingml/2006/main" l="5598" t="0" r="55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15450" y="1809750"/>
            <a:ext cx="1619250" cy="10668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233917-43B6-4E6E-B454-4DDA1D01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09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5E1D0B-B471-48EC-BA23-445F6DD7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99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F5F99"/>
                </a:solidFill>
                <a:latin typeface="Aptos Mono"/>
                <a:ea typeface="Aptos Mono"/>
                <a:cs typeface="Aptos Mono"/>
              </a:rPr>
              <a:t>Trajectory 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220A25-EDEA-42F1-8ACC-6E1A175E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388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I have repeatedly worked at the boundary where optical capture, physical constraints, and software reconstruction meet.</a:t>
            </a:r>
          </a:p>
        </p:txBody>
      </p:sp>
    </p:spTree>
    <p:extLst>
      <p:ext uri="{BB962C8B-B14F-4D97-AF65-F5344CB8AC3E}">
        <p14:creationId xmlns:p14="http://schemas.microsoft.com/office/powerpoint/2010/main" val="1137032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75CF26-14D0-46F8-8A54-E39C5A57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5E4BF-1F44-4D0B-92B0-E2C8C2D9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A50E7-2B80-4F76-9482-DFC3EC77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8F269-34A9-4BE7-9261-084F4BE7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9F4F9-7FCD-4E1C-BD9E-A767967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90105-72C8-4F0E-A55A-19E623F4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Heterogeneous surfaces make defect detection difficult because texture, glare, and height variation interfere with visual cues.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35423-B62D-43A8-B9ED-8D15F621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Main project motivation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4621A-2B10-4E82-A0B6-E0057518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13753-614D-4F26-A306-4394C235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4/16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5A4EA-A018-42FC-B762-C03841BB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11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7AFD5-931B-4BC2-A82F-A943E69F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33650"/>
            <a:ext cx="1638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F7861-B696-4FF9-80CC-F3277A6F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6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B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5669C-FEEA-4C13-A5CB-7FA81F33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B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DDD1B-D5BF-4A81-A1F5-0605204C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5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B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F177A-245D-4F7B-89A6-4844DE1F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9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B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CE506-5B0E-4D2B-B56D-F84811B1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4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B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0A558-F1C1-4694-9004-F39F365D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B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D55C2-BA92-4933-95F5-7F7DCEAE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3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B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1285B-E219-47C4-82B7-CB9A1AFE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7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B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F9AC7-8303-4E2B-A925-68EBC54B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2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B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0C40B-334F-4170-8C91-28851D86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00350"/>
            <a:ext cx="685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A4CB8-CE8F-4AE0-9090-1B54216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Metal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DF562-914C-408C-BAD3-AE52078E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specular glare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18C2C0-ACA1-46CE-9003-2DB010CF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11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65292-996A-491B-AC64-E6C40107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33650"/>
            <a:ext cx="1638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7D8C7-5A86-48E8-B6DE-D9390D42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6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4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61BBA-65E0-4EF7-9E50-71122DCA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4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C66D85-C571-411F-955E-A013A5ED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5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4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16E48C-CB2F-4C25-B54B-D179545F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9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4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5FB24D-2761-452F-8C10-AA2CCE65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4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4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B25DBE-A606-4E8F-8FA0-534A6F65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8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4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D069E2-17D9-45C3-8094-70CBA1EA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3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4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78F944-55E4-4ACA-A8E8-BFF340A3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7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4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106FD3-9227-4FFD-916D-73B65142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2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4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68766F-926B-4795-B0E9-2108738B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0350"/>
            <a:ext cx="685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6EE97C-940F-412B-95D1-A05E23CF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052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Ceramic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DA12C4-F1B7-405C-9445-C36AAD4F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grain texture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6D65C6-676F-4794-87A3-E9241C29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11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E48423-2A9C-4FD5-BF8A-36117C2B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33650"/>
            <a:ext cx="1638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695B58-95FA-46F0-8D1E-4BAE65FD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2A4E5F-83A4-4A86-8A4F-3C3C2D66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0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CC6B91-64AD-4276-A1E5-4A955ABC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CE588A-4F7F-4FAB-BD32-9FBA6550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9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9F2987-8D08-46C5-84C0-6E8640F3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4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E5CBC4-59B6-4088-9F50-5570BC23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8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BB65F4-E4DE-4E6C-9F15-6A783B7E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3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AE4747-049C-4033-B7C5-B9BAC6DF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76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9D521A-D641-4772-ACB4-9F89630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211" y="2647950"/>
            <a:ext cx="1047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39283B-DA52-4648-AB0F-907A8287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685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030B39-6ECD-416D-8DD6-5E930C12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052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Polymer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E5D720-EC3F-447A-8316-7B2CE747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low-contrast defects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D8DFF3-B241-4289-8EC4-3C113B2E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057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430">
            <a:solidFill>
              <a:srgbClr val="0B1F3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050A3F-C7A4-46E1-98ED-DEA4BB02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33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Why DFF?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AFD0EB-47E5-4BB3-91F0-9C22BFE2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E2F5F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E2F5F8"/>
                </a:solidFill>
                <a:latin typeface="Aptos"/>
                <a:ea typeface="Aptos"/>
                <a:cs typeface="Aptos"/>
              </a:rPr>
              <a:t>Defocus changes across a focus stack can provide a surface-depth cue when single images are ambiguous.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D583A0-3346-4DB2-8A84-4B3DCCF2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57625"/>
            <a:ext cx="857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1AC534-5754-42DC-B5DF-389DEDA6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0041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43CFB7-1669-4960-B6AC-BFF109F6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03270"/>
            <a:ext cx="5524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C18371-89AB-4BC0-A3A4-AD18ABC6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83445A-DBEB-460B-B20D-4EBFE656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952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302ACA-CA91-41B4-9F06-18031C64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67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F5F99"/>
                </a:solidFill>
                <a:latin typeface="Aptos Mono"/>
                <a:ea typeface="Aptos Mono"/>
                <a:cs typeface="Aptos Mono"/>
              </a:rPr>
              <a:t>Research framing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95786E-8DF0-4C6C-9A6F-53F137ED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673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Build a pipeline that combines focus-stack imaging, DFF reconstruction, glare-aware evaluation, and learning-based correction for defect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446973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E2335-FC13-491A-8CA2-394472D6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F0D7C-52F0-4596-8362-13013C0C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2C34B-62B3-475F-9F8D-0B413ADD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55B02-B163-42EA-9D84-271FD2F2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C82EA-08E7-4AB5-9831-11B4FB2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1C5BB-5640-4089-A5BE-62DC65CC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Focus-stack imaging turns axial focus variation into a relative 3D surface cue.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B3D71-726B-4E20-A322-2B0E61F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DFF reconstruction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F6BA7-EB14-41E5-ACE7-6B02194D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619D6-2DF1-498E-9AA5-3B6576AF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5/16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C871E-76A3-41E7-A2A0-33077DB5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543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65963-CED2-4087-A27F-A80E86FF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966C5-7749-4D8E-B0EF-3C363A1F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85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04F56-86EF-4B89-91BD-9B2331DA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Focus-stack</a:t>
            </a:r>
          </a:p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acquisition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B897D-133B-4BCB-8077-0BF8C331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multiple z positions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C727E-0667-4A3A-9DBB-6CC0D0C5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79370"/>
            <a:ext cx="285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AF1D1-E4A6-49DE-8EF4-73B48BCA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B11C5-37A0-41E8-99C7-F9437163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62150"/>
            <a:ext cx="1543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CBDB8-1D74-40FD-A74A-C66DDA0A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79E0E-EDC7-4211-B099-50F7D0C5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285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17C07-44A4-4C3C-98A0-8DBA93AD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527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Focus</a:t>
            </a:r>
          </a:p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D5FED-27DA-4765-B0E7-4F827B08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local sharpness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0A580-A13D-45B7-8626-5C371666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79370"/>
            <a:ext cx="285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87B67-833B-4B78-ADB6-1BC41421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27603F-C324-4FEB-9723-D75883D6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62150"/>
            <a:ext cx="1543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84D9D-E86C-4018-8B1A-3555D7AB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6483F-9F82-4907-AFFF-1D22590B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285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4D4A5-919D-4AC2-9D8F-43448240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Depth map</a:t>
            </a:r>
          </a:p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estimation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77C0F1-C345-438E-9113-DE453C15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813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best-focus index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33D40B-0B65-49F1-B8D3-420F552F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9370"/>
            <a:ext cx="285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F7B65-DBFB-434E-8EF8-8B839984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AE233-A7FD-4359-9052-73DD1509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1543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016C50-DEC9-4959-AEB9-68A75A91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6DCCB5-6E64-4118-A258-FBD2DAD0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85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ABB5CA-94FE-4142-B1BB-3051B71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Glare-aware</a:t>
            </a:r>
          </a:p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E98C64-3D0C-4B01-A93F-138C31A1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813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reflective risk 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FAA91B-667A-47B8-8881-170176C9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9370"/>
            <a:ext cx="285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B6ECB9-1507-4087-BCA9-717915C2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92D166-D76F-47D6-BD89-12C3C1B2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62150"/>
            <a:ext cx="1543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A8C545-043E-4F43-959F-75EE5D3A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6F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8887AE-0A80-4883-BC31-B0247235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85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FEBA06-2483-4AB5-9DF3-150F2943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Learning-based</a:t>
            </a:r>
          </a:p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F8A365-956F-4FB1-A826-7D95649A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813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depth/defect refinement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E6EEAB-87D7-44D4-BA0F-ADF86319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9370"/>
            <a:ext cx="285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B60F63-C9D0-4E0A-81BA-17CBBC6B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885B4F-B3D7-49F1-A7E8-5006C457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62150"/>
            <a:ext cx="1543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5E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09B905-F5A7-4281-BEE8-2D183B55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116639-8E40-4516-9435-2BE91F3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90750"/>
            <a:ext cx="285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B71940-D0C7-4DCF-AB5E-647CCD05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527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Defect</a:t>
            </a:r>
          </a:p>
          <a:p xmlns:a="http://schemas.openxmlformats.org/drawingml/2006/main">
            <a:pPr algn="ctr">
              <a:defRPr sz="114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visualization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4A2BEA-BB2C-40F5-BCF9-C0E7BAD3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813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surface-level evidence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cca1399e34267"/>
          <a:srcRect xmlns:a="http://schemas.openxmlformats.org/drawingml/2006/main" l="0" t="27835" r="0" b="27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3752850"/>
            <a:ext cx="4953000" cy="180975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4e6058ebd43f9"/>
          <a:srcRect xmlns:a="http://schemas.openxmlformats.org/drawingml/2006/main" l="20849" t="0" r="208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3752850"/>
            <a:ext cx="2247900" cy="180975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1fbf1fa98436d"/>
          <a:srcRect xmlns:a="http://schemas.openxmlformats.org/drawingml/2006/main" l="861" t="0" r="8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3752850"/>
            <a:ext cx="2286000" cy="180975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E23392-9C9E-4ACB-ABB4-53FE1BA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4"/>
                </a:solidFill>
                <a:latin typeface="Aptos"/>
                <a:ea typeface="Aptos"/>
                <a:cs typeface="Aptos"/>
              </a:rPr>
              <a:t>Synthetic multi-sample comparison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D1666F-783A-4193-AA8D-34172AF8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38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4"/>
                </a:solidFill>
                <a:latin typeface="Aptos"/>
                <a:ea typeface="Aptos"/>
                <a:cs typeface="Aptos"/>
              </a:rPr>
              <a:t>Surface reconstruction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62D5E5-62B6-4949-8421-F916ACC2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388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4"/>
                </a:solidFill>
                <a:latin typeface="Aptos"/>
                <a:ea typeface="Aptos"/>
                <a:cs typeface="Aptos"/>
              </a:rPr>
              <a:t>Real-sample relative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782747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5B9732-9C38-4363-88C3-020373D1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58B92-BB91-4DBF-B833-C2004F2E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22012-EB0C-4D3D-9F50-9C88696F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1911E-B499-4503-B0D9-38CDC817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BC82D-05B0-49DE-BCC8-7B190B0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5ECB4-618B-4923-9530-F38C4DFF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 built the reproducible pipeline and separated simulated quantitative validation from real-sample relative reconstruction.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6AFFE-F322-4DCB-AA66-AC1CFFF2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DFF results and contribution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0DAAC-F1BF-4FBF-936A-EC7F1C39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711F2-FA66-430F-BD5D-1EB8A957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6/16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7f39e6f714c12"/>
          <a:srcRect xmlns:a="http://schemas.openxmlformats.org/drawingml/2006/main" l="15168" t="0" r="151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038350"/>
            <a:ext cx="3562350" cy="24003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998092dd245b4"/>
          <a:srcRect xmlns:a="http://schemas.openxmlformats.org/drawingml/2006/main" l="0" t="6699" r="0" b="66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2038350"/>
            <a:ext cx="3562350" cy="24003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12F6B-A333-47CC-814C-890C52B9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28575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D8380-559F-4890-A9CE-C15AD2E9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860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5F99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1F5F99"/>
                </a:solidFill>
                <a:latin typeface="Aptos Mono"/>
                <a:ea typeface="Aptos Mono"/>
                <a:cs typeface="Aptos Mono"/>
              </a:rPr>
              <a:t>MY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1BCA2-A570-42B4-B9DB-79A54885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C6A72-5551-4A2C-841A-7C5727F0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Built Python pipeline for synthetic surface generation and focus-stack simulation.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24A2A-C23C-406A-BE1A-06B02C51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71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3D1A9-25D3-42A5-B430-6427192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Implemented the project-wide focus-stack height convention.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8F6C4-8973-43A5-8D56-756B30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29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B1A8F-34C5-4257-AE3C-0963AF70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Ran traditional and learning-based algorithm comparisons.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25D24-594E-4D89-B8DC-FB63867A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86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6F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81549-C116-4955-9315-6EE9A5F7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195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Prepared figures with explicit real/simulated evidence boundaries.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9DFAF-68F6-47F6-A935-83BEE44B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50292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11430">
            <a:solidFill>
              <a:srgbClr val="CB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75296D-116E-47F5-8358-22478CA4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Simulated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7CF231-EF79-41FF-B50C-5DD8BB06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38725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Used for controlled comparison because ground-truth-like surface information can be specified.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553F0-EBE7-43CA-BF67-78116478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0292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ED5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22746-F819-4254-8FF2-F8F1F699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48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60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86016"/>
                </a:solidFill>
                <a:latin typeface="Aptos"/>
                <a:ea typeface="Aptos"/>
                <a:cs typeface="Aptos"/>
              </a:rPr>
              <a:t>Real-sample results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1F14A7-10DC-46B7-BA2A-98C2EE9A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38725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Presented as relative reconstruction and visual evidence under real imaging constraints.</a:t>
            </a:r>
          </a:p>
        </p:txBody>
      </p:sp>
    </p:spTree>
    <p:extLst>
      <p:ext uri="{BB962C8B-B14F-4D97-AF65-F5344CB8AC3E}">
        <p14:creationId xmlns:p14="http://schemas.microsoft.com/office/powerpoint/2010/main" val="1882856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72A34E-E921-4636-9BC5-818EEE0B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59FD0-0BB2-40B3-ACD9-842786EE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1F680-568C-4D0B-8773-3CA18EB7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C66BE-C890-465E-8D56-5B7BBFFA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A4165-BC9D-4618-ABC5-7C84FF4A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D7555-F7B3-43CE-A533-EE59C98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For high-aspect-ratio micro-holes, I combined optical measurement thinking with robust image-analysis software.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0908B-E48D-470F-8CD2-0196D139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Optical metrology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70784-4D22-44A1-B3D2-EB246515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DC2E4-0F67-4445-ADC1-7FA1ED96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7/16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26626-6F69-43BF-BB8A-019FE3F8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3286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94A08-EDB7-4990-8D01-51BB1A96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Confocal scanning 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A342D-F274-4D72-9158-B9DA615B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142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EB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6B4A0-EC53-4D34-933B-E9B5B99C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4322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7F31D-5B29-4886-8CF5-9846AFB3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3238500"/>
            <a:ext cx="285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98F87-5992-47B2-AC4C-45BAA82F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71950"/>
            <a:ext cx="8382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084BA-24E1-41E3-8740-39EA1919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00550"/>
            <a:ext cx="11811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0049F-2B05-459F-8448-C061B6AC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tomographic z-scan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5dd33e1ae4209"/>
          <a:srcRect xmlns:a="http://schemas.openxmlformats.org/drawingml/2006/main" l="2165" t="0" r="2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2095500"/>
            <a:ext cx="3143250" cy="20383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a6b74633f4bd9"/>
          <a:srcRect xmlns:a="http://schemas.openxmlformats.org/drawingml/2006/main" l="0" t="34242" r="0" b="3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4305300"/>
            <a:ext cx="3143250" cy="990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7C0F4-3A25-4E8F-A799-C6698D88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3162300" cy="32004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D61CD-8509-4D8F-85C6-01595F88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5F99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1F5F99"/>
                </a:solidFill>
                <a:latin typeface="Aptos Mono"/>
                <a:ea typeface="Aptos Mono"/>
                <a:cs typeface="Aptos Mono"/>
              </a:rPr>
              <a:t>SOFTWARE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5FE9C-7B18-4DA3-88E7-85BF8905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2F78F5-9876-4AD4-9552-53F40D4B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419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6CF3B-6E08-4A17-8598-5BE4A762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B3A"/>
                </a:solidFill>
                <a:latin typeface="Aptos"/>
                <a:ea typeface="Aptos"/>
                <a:cs typeface="Aptos"/>
              </a:rPr>
              <a:t>Top / bottom</a:t>
            </a:r>
          </a:p>
          <a:p xmlns:a="http://schemas.openxmlformats.org/drawingml/2006/main">
            <a:pPr algn="l">
              <a:defRPr sz="1050" b="1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B3A"/>
                </a:solidFill>
                <a:latin typeface="Aptos"/>
                <a:ea typeface="Aptos"/>
                <a:cs typeface="Aptos"/>
              </a:rPr>
              <a:t>image pair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35BCF-1AD7-43B1-AA6E-E81317B1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105150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082A8-77BC-474D-A6B9-569E5B78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C0BD4-C740-455C-BF58-E0A43880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419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2DABEC-0735-4D7E-92DB-04CBE1A3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B3A"/>
                </a:solidFill>
                <a:latin typeface="Aptos"/>
                <a:ea typeface="Aptos"/>
                <a:cs typeface="Aptos"/>
              </a:rPr>
              <a:t>Hough circle</a:t>
            </a:r>
          </a:p>
          <a:p xmlns:a="http://schemas.openxmlformats.org/drawingml/2006/main">
            <a:pPr algn="l">
              <a:defRPr sz="1050" b="1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B3A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0528A-1C3C-4ABA-8CBA-EF6FD3D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38550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3F4BE8-DBE7-4689-8D91-800A2B85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2CB20-56A1-46A0-93A5-CFDC6604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419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A68956-46BF-4491-8CCF-D0724853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00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B3A"/>
                </a:solidFill>
                <a:latin typeface="Aptos"/>
                <a:ea typeface="Aptos"/>
                <a:cs typeface="Aptos"/>
              </a:rPr>
              <a:t>Manual least-</a:t>
            </a:r>
          </a:p>
          <a:p xmlns:a="http://schemas.openxmlformats.org/drawingml/2006/main">
            <a:pPr algn="l">
              <a:defRPr sz="1050" b="1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B3A"/>
                </a:solidFill>
                <a:latin typeface="Aptos"/>
                <a:ea typeface="Aptos"/>
                <a:cs typeface="Aptos"/>
              </a:rPr>
              <a:t>squares fitting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4D3AC0-B7E4-401B-A742-A25B4E57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71950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663022-F647-412E-B4B4-069AC946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82C2DE-C6DE-4EAD-AB44-6284CEE9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419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ADA738-6B56-4E8B-8117-FBDE66E7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434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B3A"/>
                </a:solidFill>
                <a:latin typeface="Aptos"/>
                <a:ea typeface="Aptos"/>
                <a:cs typeface="Aptos"/>
              </a:rPr>
              <a:t>Aspect-ratio</a:t>
            </a:r>
          </a:p>
          <a:p xmlns:a="http://schemas.openxmlformats.org/drawingml/2006/main">
            <a:pPr algn="l">
              <a:defRPr sz="1050" b="1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B3A"/>
                </a:solidFill>
                <a:latin typeface="Aptos"/>
                <a:ea typeface="Aptos"/>
                <a:cs typeface="Aptos"/>
              </a:rPr>
              <a:t>calculation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85F168-0083-4AA5-AD13-DBA353AA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1000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B3A"/>
                </a:solidFill>
                <a:latin typeface="Aptos"/>
                <a:ea typeface="Aptos"/>
                <a:cs typeface="Aptos"/>
              </a:rPr>
              <a:t>Takeaway: optical metrology needs both a physically meaningful acquisition model and resilient user-facing measurement tools.</a:t>
            </a:r>
          </a:p>
        </p:txBody>
      </p:sp>
    </p:spTree>
    <p:extLst>
      <p:ext uri="{BB962C8B-B14F-4D97-AF65-F5344CB8AC3E}">
        <p14:creationId xmlns:p14="http://schemas.microsoft.com/office/powerpoint/2010/main" val="615293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7C663B-E60C-43D5-AEB3-EB847C6D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78497-A4FD-4002-A423-2DD636E0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75EF3-ADB3-4404-9505-4AA51FCB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0236E-E066-42AA-A1D8-C858E01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10582-F2ED-484E-8BC9-EBF210E0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CC9C0-D408-49FC-B49C-5A86BE45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Zemax and prototype projects gave me system-level optical design experience beyond image processing.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E77A5-9750-4DF4-A13E-85A03C7F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Optical engineering 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2D7A3-17AF-4031-8462-441B5235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131FB-BC5C-4769-B59C-F4C3DDD7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8/16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C50E1-0E11-472F-A1A3-B655F148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8958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03f036cbb446b"/>
          <a:srcRect xmlns:a="http://schemas.openxmlformats.org/drawingml/2006/main" l="0" t="11120" r="0" b="11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133600"/>
            <a:ext cx="4438650" cy="20193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C4517-AC6C-4E9C-A84D-BDC4F53E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Mirrorless camera lens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C51F4-ED76-4452-BABD-57C7365A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9525">
            <a:solidFill>
              <a:srgbClr val="BBDD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DB65E-1891-423C-9A57-5EC0A01A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495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Zemax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5E663-7728-424B-832F-F9D3D354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90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BD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C69A2-CFFC-47FB-B601-AAE68AAD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86325"/>
            <a:ext cx="361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826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5826F"/>
                </a:solidFill>
                <a:latin typeface="Aptos"/>
                <a:ea typeface="Aptos"/>
                <a:cs typeface="Aptos"/>
              </a:rPr>
              <a:t>MTF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B9DFC-1D73-43B6-9F95-18F2DF41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96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F6D4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ECDE5-42A1-4887-B568-665D96D2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86325"/>
            <a:ext cx="647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A8601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86016"/>
                </a:solidFill>
                <a:latin typeface="Aptos"/>
                <a:ea typeface="Aptos"/>
                <a:cs typeface="Aptos"/>
              </a:rPr>
              <a:t>Athermal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FA7CF-BDA8-4479-929C-3A1151E5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1965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5D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307F4-50BC-4A0A-A065-BD6B3E30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86325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75BA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75BA0"/>
                </a:solidFill>
                <a:latin typeface="Aptos"/>
                <a:ea typeface="Aptos"/>
                <a:cs typeface="Aptos"/>
              </a:rPr>
              <a:t>Tolerance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E37DE-1558-46DF-9368-1EED1B9C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Structure optimization, ghost-image review, cost and tolerance analysis, lens-barrel planning, Monte Carlo validation.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C8E4C-F2B1-4811-856F-AE066CA8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48958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b0af8d0124d40"/>
          <a:srcRect xmlns:a="http://schemas.openxmlformats.org/drawingml/2006/main" l="10010" t="0" r="100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133600"/>
            <a:ext cx="2152650" cy="20193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4ac7903f547f5"/>
          <a:srcRect xmlns:a="http://schemas.openxmlformats.org/drawingml/2006/main" l="0" t="2679" r="0" b="26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2133600"/>
            <a:ext cx="2133600" cy="20193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086B52-EB8F-4F99-B141-4AE5DD36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005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LEGO-based fluorescence microscope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97306-2F65-4179-91AF-956BE48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965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9525">
            <a:solidFill>
              <a:srgbClr val="BBDD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FB0833-6906-414F-86E5-CD3AE2F6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86325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4E1FE-0DC0-43CC-A610-AC6D55B3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196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BD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8D7E4C-D1B7-4C59-B2BB-AF153AB9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8632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826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5826F"/>
                </a:solidFill>
                <a:latin typeface="Aptos"/>
                <a:ea typeface="Aptos"/>
                <a:cs typeface="Aptos"/>
              </a:rPr>
              <a:t>Optical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044EE4-EADA-45B7-B442-B1061067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19650"/>
            <a:ext cx="1409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F6D4A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0EE156-1034-4F2F-9008-76BBA77F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86325"/>
            <a:ext cx="1181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A8601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86016"/>
                </a:solidFill>
                <a:latin typeface="Aptos"/>
                <a:ea typeface="Aptos"/>
                <a:cs typeface="Aptos"/>
              </a:rPr>
              <a:t>Mechanical modules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E0BAFF-AA2A-45B6-8608-27C1EEFE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006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Mechanical LEGO Studio design plus collaboration on Zemax optical-path design for a working fluorescence microscope prototype.</a:t>
            </a:r>
          </a:p>
        </p:txBody>
      </p:sp>
    </p:spTree>
    <p:extLst>
      <p:ext uri="{BB962C8B-B14F-4D97-AF65-F5344CB8AC3E}">
        <p14:creationId xmlns:p14="http://schemas.microsoft.com/office/powerpoint/2010/main" val="87607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070B15-035F-43CC-A959-21A0F65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B5C0B-85EC-4BAE-BDEA-33EC00CE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23278-D08C-41B9-9437-6F24EC84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FDF7D-2A17-4686-A321-1806C8CC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1D750-6997-47B4-9724-C6B0279E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81B89-295B-4380-9FDB-32783CA6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My strongest implementation stack is Python/OpenCV/PyTorch for imaging pipelines, with Zemax/SolidWorks for optical-system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6351C-FAB9-4CEE-956A-9E6BAB55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Technical toolkit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A5C22-BE55-41FC-B7DA-6821472D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EC6C7-0F68-4728-886E-7A4CCCF4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9/16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9F401-803E-4D42-B211-13F1C069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18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E7184"/>
                </a:solidFill>
                <a:latin typeface="Aptos Mono"/>
                <a:ea typeface="Aptos Mono"/>
                <a:cs typeface="Aptos Mono"/>
              </a:rPr>
              <a:t>Capability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061C6-6A0B-4560-85C0-75461CE0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18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E7184"/>
                </a:solidFill>
                <a:latin typeface="Aptos Mono"/>
                <a:ea typeface="Aptos Mono"/>
                <a:cs typeface="Aptos Mono"/>
              </a:rPr>
              <a:t>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EBCD9-6CDD-4AFA-88A1-6FDBDBCD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18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E7184"/>
                </a:solidFill>
                <a:latin typeface="Aptos Mono"/>
                <a:ea typeface="Aptos Mono"/>
                <a:cs typeface="Aptos Mono"/>
              </a:rPr>
              <a:t>Output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E97BF-4530-47BC-AC6A-39A20C27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325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D6B1A-1206-43D4-BB29-88871A05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D7704-2612-42B2-94DA-1EC9BD1E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Imaging reconstruction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7997A-9217-41BF-9D35-DEDEDCA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669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2A7C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2A7C8"/>
                </a:solidFill>
                <a:latin typeface="Aptos"/>
                <a:ea typeface="Aptos"/>
                <a:cs typeface="Aptos"/>
              </a:rPr>
              <a:t>Python, OpenCV, PyTorch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77211-8DF2-4800-9C47-6CF3EE43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DFF reconstruction, focus-stack simulation, defect visualization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B9817-A1BF-4E2F-822C-40ABA478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325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F2843-7BA1-43DC-89E8-3AE8E48B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6D0E5-CC08-4AFD-AD0B-8DC21A3F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Measurement software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EB1E7-6587-4262-AC5F-4D8891DC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337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8A999"/>
                </a:solidFill>
                <a:latin typeface="Aptos"/>
                <a:ea typeface="Aptos"/>
                <a:cs typeface="Aptos"/>
              </a:rPr>
              <a:t>OpenCV, Tkinter, least-squares fitting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F4340-43A5-4B10-B1B0-E9A16399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Micro-hole radius detection, manual/automatic modes, exported overlays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9D7D3-9046-495C-8C4E-6DCE5F7C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325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0087F-F756-405E-97B7-588C715C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2A6CF-53B7-424B-A6B2-E0EF4E6C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Optical design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DF3F47-E543-4AEE-B902-28F89CC6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004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F5F99"/>
                </a:solidFill>
                <a:latin typeface="Aptos"/>
                <a:ea typeface="Aptos"/>
                <a:cs typeface="Aptos"/>
              </a:rPr>
              <a:t>Zemax, SolidWorks, AutoCAD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1CCAC-C207-44A9-95A6-BD944F87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Lens optimization, MTF/tolerance review, microscope module planning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3DACF0-63F8-44E3-9FCF-8104CF26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325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318D2-C930-431D-B13A-F21B4B97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21FF61-1C93-403D-8177-C2AA3044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Scientific communication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597082-2702-432E-8B62-6432C5C1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672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F28C28"/>
                </a:solidFill>
                <a:latin typeface="Aptos"/>
                <a:ea typeface="Aptos"/>
                <a:cs typeface="Aptos"/>
              </a:rPr>
              <a:t>LaTeX, Markdown, Office, Photoshop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7224EA-FDE1-43ED-82DF-3C37B452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Reports, project documentation, presentation figures, reproducible notes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171F36-21C7-4C80-884F-9DFFC0A0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325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DA9482-A22A-4185-94BC-935FEE34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F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34A737-5FCE-4B1E-B8C7-36BEA8A1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Programming base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0DA714-631A-4D64-94E0-244DA35C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339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A6FB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A6FB3"/>
                </a:solidFill>
                <a:latin typeface="Aptos"/>
                <a:ea typeface="Aptos"/>
                <a:cs typeface="Aptos"/>
              </a:rPr>
              <a:t>C/C++, Python, MATLAB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6B3BD-8E89-43B3-A742-49C0E176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Coursework and project implementation across optics and vision tasks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BC3C3B-9046-40DA-882F-CD42D3FF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25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11430">
            <a:solidFill>
              <a:srgbClr val="CBE3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BEA75B-BA86-4AC1-8B02-81162323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Preparation signal for WeLight Lab: comfortable crossing optical-system constraints, reconstruction algorithms, and implementation details.</a:t>
            </a:r>
          </a:p>
        </p:txBody>
      </p:sp>
    </p:spTree>
    <p:extLst>
      <p:ext uri="{BB962C8B-B14F-4D97-AF65-F5344CB8AC3E}">
        <p14:creationId xmlns:p14="http://schemas.microsoft.com/office/powerpoint/2010/main" val="2456213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4F23C3-9CC3-45D7-8E58-B90AE5B6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980CC-8C40-4B1D-BF64-11E433C4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6EB5E-091C-4938-A177-28C7DC86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E98E3-D8FF-4C1B-AA6C-B209B60E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ACF3F-A5FA-4E2F-B20F-438E5EBC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A7443-651A-4B12-AAB4-B78C5302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 hope to grow toward optics-vision-AI co-design for computational imaging, 3D vision, holography, and display systems.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38E91-509F-4AC8-B8A8-A1FF390C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Fit with WeLight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5AA98-9CA6-4BF5-B731-5F23DDDE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D4259-276D-4C07-8ACA-65F8F26E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10/16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4B568-2907-4B16-8147-42515C81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3337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3DF0B-2A63-4B33-B474-6ABAC1E9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33337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C9729-C0AF-4652-BACB-2BF23472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05050"/>
            <a:ext cx="3276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11430">
            <a:solidFill>
              <a:srgbClr val="B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E443A-42EF-49E5-9737-C413D318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F9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5F99"/>
                </a:solidFill>
                <a:latin typeface="Aptos Display"/>
                <a:ea typeface="Aptos Display"/>
                <a:cs typeface="Aptos Display"/>
              </a:rPr>
              <a:t>My preparation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95BE2-A361-47CD-9767-4DD5A98B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38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0CBE3-5FFA-4C8E-99B9-8B0BB96E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Optical imaging intuition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ED9AB-B854-4AB6-8E47-819AF102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57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61D5F-FCAD-4BE3-83B9-CF12113B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DFF and 3D/depth reconstruction practice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C1459-02EA-4621-B835-D92857AD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0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0DB44-3870-4BAE-8754-6072F69E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OpenCV/PyTorch/Zemax 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237DF-8873-4154-9FEF-C2B925A3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Overlap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A68A6-389A-4BAF-ADA2-3D1AE510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C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4352A-74A1-4D08-AF2E-DEB1F3CD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71825"/>
            <a:ext cx="1295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Computational imaging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A921F-CFCA-498A-9554-AA3C0168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1485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B8DC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F5BF8-C980-475A-AA7C-EC2B3425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71825"/>
            <a:ext cx="1257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A6FB3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A6FB3"/>
                </a:solidFill>
                <a:latin typeface="Aptos"/>
                <a:ea typeface="Aptos"/>
                <a:cs typeface="Aptos"/>
              </a:rPr>
              <a:t>Coded / learned optics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B591F-CCB3-4713-8F9E-D48929D4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1314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C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A3D4EB-EAA6-4B8A-9FBA-5488C27F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05225"/>
            <a:ext cx="10858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3D reconstruction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969D19-23E6-4D48-B9A1-16EBDE4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1162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B8DC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E76CF-E302-4042-845D-767ACCFB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05225"/>
            <a:ext cx="933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A6FB3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A6FB3"/>
                </a:solidFill>
                <a:latin typeface="Aptos"/>
                <a:ea typeface="Aptos"/>
                <a:cs typeface="Aptos"/>
              </a:rPr>
              <a:t>Low-level 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BA8546-4884-40BB-94AA-0DB2E1E9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C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C22277-716C-4253-90D5-6C4C9CBA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38625"/>
            <a:ext cx="1581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Experimental constraints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C473E9-E869-4FF7-B301-F092B514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F9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5F99"/>
                </a:solidFill>
                <a:latin typeface="Aptos Display"/>
                <a:ea typeface="Aptos Display"/>
                <a:cs typeface="Aptos Display"/>
              </a:rPr>
              <a:t>WeLight directions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97F3CF-DA25-4FE4-9AB2-8ED93D6E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38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99E84-4377-48FD-BDA4-943D6CBE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Computational optics / imaging / display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455C93-D95D-43B8-8908-C9E66EA3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52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6F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52F4F1-54F9-403C-882B-D600D9B6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Holography, VR/AR/MR, 3D vision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29FE2A-0B43-4916-BF5E-532A6DED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67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174802-8B23-4EC3-BDCF-464546B6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Optics + graphics + vision + AI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8F5B32-5CF8-4CA5-9EED-A1F775B2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4720"/>
            <a:ext cx="1905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FCC083-8DB9-4A22-A997-099066DA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C062C0-0CB9-4D87-8D47-DBCBD1B8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74720"/>
            <a:ext cx="1905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9EAFB1-5FF8-4063-817E-C862EB52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8A1D8C-32FD-42CC-A749-1EC2A8A8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866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292A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292A0"/>
                </a:solidFill>
                <a:latin typeface="Aptos"/>
                <a:ea typeface="Aptos"/>
                <a:cs typeface="Aptos"/>
              </a:rPr>
              <a:t>Public alignment source: WeLight Lab website and Prof. Peng opening/research pages.</a:t>
            </a:r>
          </a:p>
        </p:txBody>
      </p:sp>
    </p:spTree>
    <p:extLst>
      <p:ext uri="{BB962C8B-B14F-4D97-AF65-F5344CB8AC3E}">
        <p14:creationId xmlns:p14="http://schemas.microsoft.com/office/powerpoint/2010/main" val="897244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650B00-9854-479E-A25E-CD98FD77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69119-403F-4E07-B69F-26B17213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E858E-043A-42CF-83B7-124CF267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C065E-52F3-417E-BE7E-4260B197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F97F8-52A8-4C88-A936-CE5248BF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3F3E7-67E5-4D60-9354-72F43D6D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The next step I want to learn is how to co-design optics, capture, and reconstruction under real experimental constraints.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09870-4DAB-4FF2-8D1F-970B9BA2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Near-term research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67EF9-B90F-41E8-AC2B-9BF6A683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6529B-1F82-4D46-90DD-B1E465B5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11/16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1B0E1-A28C-4FB4-B32A-C4CB89F1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24DD4-7B04-45ED-9D9B-B7FC8A53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984DD-1AFE-4383-BF6E-4DC675CF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33A96-79AF-402F-BED0-12D2CEC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860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Focus / defocus cues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3BC10-5FD7-4F82-B990-4700787E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2305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How can focus and defocus cues be integrated with learned optics for more robust 3D perception?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0594E-7F81-4B2C-BCC5-0308602A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83920-6294-425C-95C7-3F3863FF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28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A113E-546A-409C-AE86-5D5296DE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7177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15A60-342B-4DF6-9F4C-C80DC7E2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860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Physical priors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98284-6F42-4C6C-ABCE-0E93CB1E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09950"/>
            <a:ext cx="2305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How can physical priors improve reconstruction on reflective or heterogeneous surfaces?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7A617-5444-4AD6-9BF0-80E620F2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CEB4C-4581-4A13-80D5-A339B74D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896F0-E1E5-4A73-97BB-CBFFCDD3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7177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22625-DCE4-413B-A48D-0C9078F0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Calibration and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78866-463E-474E-85C4-9E4E8925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9950"/>
            <a:ext cx="2305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What experimental calibration and data-acquisition habits are essential for optics-AI systems?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7E083-6C9F-4D11-8D82-68B2CE90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34000"/>
            <a:ext cx="8096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11430">
            <a:solidFill>
              <a:srgbClr val="CBE3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D0FB4-6A5C-4442-9483-4BD68543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054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F5F99"/>
                </a:solidFill>
                <a:latin typeface="Aptos Mono"/>
                <a:ea typeface="Aptos Mono"/>
                <a:cs typeface="Aptos Mono"/>
              </a:rPr>
              <a:t>Discussion goal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67567-F6CD-4EFD-83AC-EB822EF5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95925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Use the meeting to learn what preparation would be most valuable for PhD / RA / visiting research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732403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34ACB-3BD2-4652-AB3C-74BCC33C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4E20D-E7CF-4CF3-848B-0095DC81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5DC02-1585-4876-878C-E3D5D095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BE3EA-83F4-47E8-8E6A-E9564C83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4F180-B469-4380-BE99-4E2C8E36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BA9D6-E798-4521-AA94-FBFFCFA3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 would appreciate feedback on whether my preparation fits current PhD, RA, or visiting research directions.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DB2AA-C742-4D16-A36E-C12633E9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F3D05-71BB-44A3-84C8-61A35295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B2404-DA11-4D8A-9518-7E66C58A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12/16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5B09F-18FD-4766-9335-D1FE7B84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0957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91291-272F-4EC5-9D29-CB2B7F63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Thank you.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48A9B-4C4F-4517-81FB-5F79B3C3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312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I am happy to share transcripts, project reports, source code, or additional result figures after the meeting.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FAAEA-6C51-4829-BC77-400712EA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Shenshi Li | Zhejiang University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1C405-93ED-4B42-9157-01275066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33600"/>
            <a:ext cx="49530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430">
            <a:solidFill>
              <a:srgbClr val="0B1F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D80FF-7143-442E-B7D7-96C059F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765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Contact and materials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63F2F-193B-436E-8D0C-EB5B0460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390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EF4"/>
                </a:solidFill>
                <a:latin typeface="Aptos"/>
                <a:ea typeface="Aptos"/>
                <a:cs typeface="Aptos"/>
              </a:rPr>
              <a:t>Email: 3230105050@zju.edu.cn</a:t>
            </a:r>
          </a:p>
          <a:p xmlns:a="http://schemas.openxmlformats.org/drawingml/2006/main">
            <a:pPr algn="l">
              <a:defRPr sz="1275" b="0">
                <a:solidFill>
                  <a:srgbClr val="DD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EF4"/>
                </a:solidFill>
                <a:latin typeface="Aptos"/>
                <a:ea typeface="Aptos"/>
                <a:cs typeface="Aptos"/>
              </a:rPr>
              <a:t>Personal website: https://lssnake0105.github.io/profile/</a:t>
            </a:r>
          </a:p>
          <a:p xmlns:a="http://schemas.openxmlformats.org/drawingml/2006/main">
            <a:pPr algn="l">
              <a:defRPr sz="1275" b="0">
                <a:solidFill>
                  <a:srgbClr val="DD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EF4"/>
                </a:solidFill>
                <a:latin typeface="Aptos"/>
                <a:ea typeface="Aptos"/>
                <a:cs typeface="Aptos"/>
              </a:rPr>
              <a:t>GitHub: https://github.com/lssnake0105</a:t>
            </a:r>
          </a:p>
          <a:p xmlns:a="http://schemas.openxmlformats.org/drawingml/2006/main">
            <a:pPr algn="l">
              <a:defRPr sz="1275" b="0">
                <a:solidFill>
                  <a:srgbClr val="DD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EF4"/>
                </a:solidFill>
                <a:latin typeface="Aptos"/>
                <a:ea typeface="Aptos"/>
                <a:cs typeface="Aptos"/>
              </a:rPr>
              <a:t>CV: available from the personal website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5BE52-7C1B-4362-80B8-650D84EF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62450"/>
            <a:ext cx="388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51C24-378E-4B9A-91EC-39F26B5E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529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D7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D7E1"/>
                </a:solidFill>
                <a:latin typeface="Aptos"/>
                <a:ea typeface="Aptos"/>
                <a:cs typeface="Aptos"/>
              </a:rPr>
              <a:t>Focus areas: computational imaging, optical metrology, 3D reconstruction, optics-AI co-design.</a:t>
            </a:r>
          </a:p>
        </p:txBody>
      </p:sp>
    </p:spTree>
    <p:extLst>
      <p:ext uri="{BB962C8B-B14F-4D97-AF65-F5344CB8AC3E}">
        <p14:creationId xmlns:p14="http://schemas.microsoft.com/office/powerpoint/2010/main" val="239238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1275B7-A204-4E2B-B948-13F2C2BF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4C561-446E-444C-A49A-48D56961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BD218-4599-41FE-8DFC-427C709A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20A75-8B90-43D1-84CA-B3A55194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BCA9E-5D41-4232-B774-CAB9173B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FE68F-E027-4744-9FE1-C0A977C0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Backup: DFF comparison keeps real-sample evidence separate from simulated algorithm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69E2E-4C68-4055-9054-9735580C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Backup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DB35F-17AE-403F-AD5C-092D13F1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C9AB8-CB01-4C65-B54C-B952ABA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13/16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483615f314831"/>
          <a:stretch xmlns:a="http://schemas.openxmlformats.org/drawingml/2006/main"/>
        </p:blipFill>
        <p:spPr>
          <a:xfrm xmlns:a="http://schemas.openxmlformats.org/drawingml/2006/main">
            <a:off x="2025813" y="1809750"/>
            <a:ext cx="4044623" cy="3333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FA715-1D61-4CAB-8214-3BEA5858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62150"/>
            <a:ext cx="31432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05BB3-BA8E-42A2-A88B-4B2702EA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479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5F99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1F5F99"/>
                </a:solidFill>
                <a:latin typeface="Aptos Mono"/>
                <a:ea typeface="Aptos Mono"/>
                <a:cs typeface="Aptos Mono"/>
              </a:rPr>
              <a:t>READING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5ED07-FF78-40D7-98FD-145CF64D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E1FB4-C274-4E23-B9C4-F5404A1E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Use simulated surfaces for controlled comparison and method iteration.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8BF10-BAAA-4C68-99B6-2C031682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24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E6051-CF57-4559-8725-72E27168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Use real samples for relative reconstruction and visual plausibility.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AA5CF-1155-4F1F-970E-FFC0033C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14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77E76-51C6-4AA6-8CF5-514CEB17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Avoid claiming absolute quantitative performance where ground truth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69479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C2F2DF-C0DE-44A1-8D28-264E7256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ADFB8-548F-4C86-8920-F9357B9F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05878-C412-40EC-8FFD-35DBED0C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2BE8E-C9F9-45A5-BAA7-E5E129C2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3B9B8-5FBF-40E0-9E9C-64B5703D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1E76D-52B9-4318-A414-6A84B60F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Backup: Micro-hole measurement software supports both automatic detection and manual fitting for difficult images.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9D882-072B-418A-9640-A9898517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Backup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C76F2-652A-4ACB-A684-873BC2E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0B8A3-B831-414C-A924-18ED5B45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14/16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53d15163f4834"/>
          <a:stretch xmlns:a="http://schemas.openxmlformats.org/drawingml/2006/main"/>
        </p:blipFill>
        <p:spPr>
          <a:xfrm xmlns:a="http://schemas.openxmlformats.org/drawingml/2006/main">
            <a:off x="742950" y="1912581"/>
            <a:ext cx="4857750" cy="3013788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004bc1ac64308"/>
          <a:srcRect xmlns:a="http://schemas.openxmlformats.org/drawingml/2006/main" l="0" t="17391" r="0" b="17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943100"/>
            <a:ext cx="2190750" cy="14287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081568cd94bee"/>
          <a:srcRect xmlns:a="http://schemas.openxmlformats.org/drawingml/2006/main" l="0" t="6504" r="0" b="65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1943100"/>
            <a:ext cx="219075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7FD6F-DE0C-4C70-98B5-72B3505D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4743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69F30-DCF5-4C51-8675-740B9B56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Implementation details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06FCE-C4E3-4D93-806E-4F2FA8C4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Hough circle transform, least-squares fitting, annotated exports, parameter presets, and automatic aspect-ratio computation.</a:t>
            </a:r>
          </a:p>
        </p:txBody>
      </p:sp>
    </p:spTree>
    <p:extLst>
      <p:ext uri="{BB962C8B-B14F-4D97-AF65-F5344CB8AC3E}">
        <p14:creationId xmlns:p14="http://schemas.microsoft.com/office/powerpoint/2010/main" val="16278199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BD37A9-5BBD-4DD9-9B47-D5EF28AF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F8EC3-5715-4510-AA2D-B38EB876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FCAB4-4652-417C-846A-2C4E0D7F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F2716-CE3F-4DC5-98FC-70E659A3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ED067-A430-4907-A637-A72B466B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F6514-E8C3-48CE-90AB-254C3E32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Backup: Lens-design work trained me to evaluate optical systems with performance, tolerance, and manufacturability in mind.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FF986-0A3D-4DEF-9B3E-59F2F41C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Backup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CE7A6-DEFC-40CB-A977-1D580AA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B8923-8C29-4E17-BB5C-89F7A6B9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15/16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a4a4fa6004221"/>
          <a:srcRect xmlns:a="http://schemas.openxmlformats.org/drawingml/2006/main" l="0" t="6081" r="0" b="6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62150"/>
            <a:ext cx="3381375" cy="21907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4783d09554fdc"/>
          <a:srcRect xmlns:a="http://schemas.openxmlformats.org/drawingml/2006/main" l="6332" t="0" r="6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962150"/>
            <a:ext cx="3381375" cy="21907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d52211a8f4ae5"/>
          <a:srcRect xmlns:a="http://schemas.openxmlformats.org/drawingml/2006/main" l="11844" t="0" r="118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962150"/>
            <a:ext cx="2857500" cy="2190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3143C-6684-414B-A23C-E0FF796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CB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2EF42-A453-43EE-B590-AAB4F2AE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29175"/>
            <a:ext cx="1771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MTF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955AC-8668-45B1-BB1F-0F2995D9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625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BD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487EF-0FE3-47E6-8CB5-39C37DDE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29175"/>
            <a:ext cx="1771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826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5826F"/>
                </a:solidFill>
                <a:latin typeface="Aptos"/>
                <a:ea typeface="Aptos"/>
                <a:cs typeface="Aptos"/>
              </a:rPr>
              <a:t>Athermal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1B289-B0F9-4FCC-B55C-1135F2A6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625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CB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E575F-C0B6-4AC5-ABDF-10161CA3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771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Ghost-image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2E4BD-5BA5-4DBA-BED8-7A1FF740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816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BD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5B702-2489-4F9A-8B84-A21A484B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48275"/>
            <a:ext cx="1771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826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5826F"/>
                </a:solidFill>
                <a:latin typeface="Aptos"/>
                <a:ea typeface="Aptos"/>
                <a:cs typeface="Aptos"/>
              </a:rPr>
              <a:t>Cost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A8228-2EAF-4B72-9B7C-1E0A2509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816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CB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15096-9317-45AA-B870-BCB82EC2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48275"/>
            <a:ext cx="1771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Tolerance 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85952-8CE8-414B-8E0F-93A61FF8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816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BD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CF004-4592-42A9-B008-739538BB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48275"/>
            <a:ext cx="1771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826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5826F"/>
                </a:solidFill>
                <a:latin typeface="Aptos"/>
                <a:ea typeface="Aptos"/>
                <a:cs typeface="Aptos"/>
              </a:rPr>
              <a:t>Monte Carlo yield</a:t>
            </a:r>
          </a:p>
        </p:txBody>
      </p:sp>
    </p:spTree>
    <p:extLst>
      <p:ext uri="{BB962C8B-B14F-4D97-AF65-F5344CB8AC3E}">
        <p14:creationId xmlns:p14="http://schemas.microsoft.com/office/powerpoint/2010/main" val="17425677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AE0A64-FF55-4B64-8951-FF9B48A9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5740C-0CC8-4508-A26D-61A87A48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C2240-C8F7-4E2B-8FAD-969831CB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053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133EB-39DB-43F9-8EC1-00E28F81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7D1F6-86AC-4975-8AE7-A4928995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34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4796A-E038-41D7-B7D9-D0E5CB19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Backup: Selected coursework, outputs, and links support the academic preparation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C0326-D08B-4EFF-ADDD-AFEEE603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84"/>
                </a:solidFill>
                <a:latin typeface="Aptos"/>
                <a:ea typeface="Aptos"/>
                <a:cs typeface="Aptos"/>
              </a:rPr>
              <a:t>Backup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EECC4-175B-46EB-82B1-82E3349D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Shenshi Li | ZJU Optics | June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B1E50-E753-4BC9-A4B0-05955803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80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090"/>
                </a:solidFill>
                <a:latin typeface="Aptos"/>
                <a:ea typeface="Aptos"/>
                <a:cs typeface="Aptos"/>
              </a:rPr>
              <a:t>16/16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42B28-98E3-4237-97B1-222F4C5F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819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41CA5-A8A1-4581-961A-B044BA37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Coursework highlights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E3C8D-5FDF-4A51-8ACE-D449F2E0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Silicon Photonics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C7654-D435-4BB2-BBFE-5687FF03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88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96/100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D8A26-D778-465E-AF28-57EFE28B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Electromagnetic Fields and Waves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08C66-DCB3-49E6-9EC9-29587770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88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94/100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6483B-333B-4E9E-BA19-0F582C7B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Physical Optics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313B7-58E8-4B95-B642-E7A69BF5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88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92/100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F8EF1-FD99-4C03-A0FB-EA447134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Computer-Aided Optical System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93C65-D1BB-4A95-8702-7A58C750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88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93/100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CA461-A2C1-4B89-A3CC-FB886BBD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Machine Vision and Image 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190F2-5FE6-4FD2-9013-6AFBD3B9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672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88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92/100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F80AA-F8AB-43F3-A4B3-8CF51E69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819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6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AC036-C8AD-4B2F-B369-86EBF1F5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Selected links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99D4A-A9C9-4D44-9EA5-024D0913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Personal website</a:t>
            </a:r>
          </a:p>
          <a:p xmlns:a="http://schemas.openxmlformats.org/drawingml/2006/main">
            <a:pPr algn="l">
              <a:defRPr sz="1163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https://lssnake0105.github.io/profile/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GitHub</a:t>
            </a:r>
          </a:p>
          <a:p xmlns:a="http://schemas.openxmlformats.org/drawingml/2006/main">
            <a:pPr algn="l">
              <a:defRPr sz="1163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https://github.com/lssnake0105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Representative repositories</a:t>
            </a:r>
          </a:p>
          <a:p xmlns:a="http://schemas.openxmlformats.org/drawingml/2006/main">
            <a:pPr algn="l">
              <a:defRPr sz="1163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DFF reconstruction, solar-cell crack detection,</a:t>
            </a:r>
          </a:p>
          <a:p xmlns:a="http://schemas.openxmlformats.org/drawingml/2006/main">
            <a:pPr algn="l">
              <a:defRPr sz="1163" b="0">
                <a:solidFill>
                  <a:srgbClr val="1D2B3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D2B3A"/>
                </a:solidFill>
                <a:latin typeface="Aptos"/>
                <a:ea typeface="Aptos"/>
                <a:cs typeface="Aptos"/>
              </a:rPr>
              <a:t>depth-ratio detector, glass material explorer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1daec2b774ae3"/>
          <a:srcRect xmlns:a="http://schemas.openxmlformats.org/drawingml/2006/main" l="0" t="8773" r="0" b="87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3676650"/>
            <a:ext cx="2190750" cy="1123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61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2026-06-14T14:32:09.6720000Z</dcterms:created>
  <dcterms:modified xsi:type="dcterms:W3CDTF">2026-06-14T14:32:09.6720000Z</dcterms:modified>
</coreProperties>
</file>